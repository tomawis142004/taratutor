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B8AF"/>
    <a:srgbClr val="C9DAF8"/>
    <a:srgbClr val="D9EAD3"/>
    <a:srgbClr val="A64C79"/>
    <a:srgbClr val="FFF2CC"/>
    <a:srgbClr val="F88E50"/>
    <a:srgbClr val="F3197C"/>
    <a:srgbClr val="0097E7"/>
    <a:srgbClr val="A529F7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25" d="100"/>
          <a:sy n="25" d="100"/>
        </p:scale>
        <p:origin x="2168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B8B3E-0441-446E-9F97-64E976C2007D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B37EA8-D585-4C8E-8426-EA07F0F82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3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BFB76-9DE5-4C1A-9FE2-85C539FDD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898EC2-D51E-431F-83A3-8C01617A6F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626F9-7B39-42A7-ADCB-9DF792B4D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A97F-9319-4670-BFC6-0074FA9AA7DE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BB4AD-5EDC-4A76-93C1-1E33FA3C6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956AA-01F9-45BF-9665-25C0B2FCD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9F5A-CFFD-4CE3-8693-ACC6E641E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305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5DAC-7D53-4CF0-9C71-3485F738F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B1F81-E48F-4AF8-8944-40B35B556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40FC2-6E8D-4287-9916-918B944D3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A97F-9319-4670-BFC6-0074FA9AA7DE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AE2A7-1A1B-4359-B019-EFD32803A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9A01F-1A4C-4E46-9E5E-82C21AE7E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9F5A-CFFD-4CE3-8693-ACC6E641E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E4D8B-30FE-47E4-B561-080338375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FE3D2-B81A-4BB2-8C8C-DA84B8D5F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4F57C-DD19-4352-9A0F-34E218E85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A97F-9319-4670-BFC6-0074FA9AA7DE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E1DEF-1C5B-4996-BEEF-B6B4BBCB0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C9B81-7186-4376-A4CF-580E27CFB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9F5A-CFFD-4CE3-8693-ACC6E641E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1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AA284-9511-4547-9FFB-DB21BBEAD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7FBA9-E7FF-42FE-9ED0-8885B9C64C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345CB-6B80-468C-8F0C-C8057CFF2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BCB28-7D72-45F5-8DC3-789B72440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A97F-9319-4670-BFC6-0074FA9AA7DE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F837D-22ED-426F-802F-0B69B12DC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3F8F3-B38E-4CBE-9098-86F1D5D0D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9F5A-CFFD-4CE3-8693-ACC6E641E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80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51D05-85DF-452B-BE43-A1F91CD90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7E5AF-0D2E-450C-AC9B-FC4E3E86E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F775A-E86C-422D-ACDC-F2C38A3B3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1C6815-5C57-4DF6-BFE2-1B6B9B0B11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ED186-053D-45AF-9164-F11BBC5610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0BC914-DC60-46ED-94A6-3076656B6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A97F-9319-4670-BFC6-0074FA9AA7DE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68AB2A-A7A4-4687-B854-D6D5471F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5C9A93-2971-48C1-BF3C-AE5E0286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9F5A-CFFD-4CE3-8693-ACC6E641E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23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AECBB-5103-4F17-A2C2-0292B5A3C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C79C22-672B-4DDD-B839-0C1C01C4B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A97F-9319-4670-BFC6-0074FA9AA7DE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9D7F6-5C8D-41B9-966E-DE83C9CE4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CE79F-B7CE-4AD0-89FA-6187F51A5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9F5A-CFFD-4CE3-8693-ACC6E641E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840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A7FDAC-7ADE-422F-A679-8C1CBED3B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A97F-9319-4670-BFC6-0074FA9AA7DE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304613-0F01-4757-8A73-D6F016252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CE3F2-D94F-4D67-BAD1-3F2B1DD5A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9F5A-CFFD-4CE3-8693-ACC6E641E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739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3E5D-7658-4E77-BC61-57AECF85A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9230D-8068-4EC3-8141-7D3F1BA2D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2511CE-7175-4A01-820F-4EA2B6010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55686-F88A-403D-9880-006CDDD4C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A97F-9319-4670-BFC6-0074FA9AA7DE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4F04B-C00A-40ED-9FED-83CB28E20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63A5E-26E7-4196-AA20-65F16CB0E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9F5A-CFFD-4CE3-8693-ACC6E641E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56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08979-4F08-4D2F-8E20-5EE49C95E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8A5944-A64F-4682-943E-E827E1B8F5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0A0BB-5694-4994-8038-790EAA1E2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E5747-87BB-4182-8162-9B187A139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A97F-9319-4670-BFC6-0074FA9AA7DE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DCEB0-3BB9-4262-8D5B-2BE0E5F0C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4F9195-7A47-4CB6-BAC9-5DE7AD04D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9F5A-CFFD-4CE3-8693-ACC6E641E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13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4C595-A368-4984-9C87-C22BCCB29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B11DBB-8B81-4232-BC28-6E010B4F8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519C-5392-4918-901C-95331D6FC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A97F-9319-4670-BFC6-0074FA9AA7DE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1B92B-BCE8-4AA6-A3D3-18FE4CE59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402F0-0267-4147-9002-989948500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9F5A-CFFD-4CE3-8693-ACC6E641E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97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D32C66-A5C8-42A4-A5FB-9B1893819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4B480-D1C1-4E3D-A2A8-F9A030A29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06130-01B1-484C-B81F-9D3ECF263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A97F-9319-4670-BFC6-0074FA9AA7DE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6C26A-B9BD-4335-8C75-E9D7CC68A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0E3D7-CA86-42A0-AB35-15AB31210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69F5A-CFFD-4CE3-8693-ACC6E641E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53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C63D75-A6AC-4964-B11C-CD0BB2B17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24A97-6E19-4DE5-9E7F-83C5BA67E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85EE3-D324-4044-9399-112E178826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5A97F-9319-4670-BFC6-0074FA9AA7DE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1D1B9-FDBC-46B3-9415-62FCC1C0A5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4B5DF-5A99-40D1-89DC-1A59878645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69F5A-CFFD-4CE3-8693-ACC6E641E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39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.mx/pin/526569381435635589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6BA3BE-0A9D-4B6F-9F65-1DD6A68AA2BF}"/>
              </a:ext>
            </a:extLst>
          </p:cNvPr>
          <p:cNvSpPr/>
          <p:nvPr/>
        </p:nvSpPr>
        <p:spPr>
          <a:xfrm>
            <a:off x="6057900" y="3448050"/>
            <a:ext cx="1828800" cy="211455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737931-BBD6-435E-8F2F-7F5FF4C8D9D9}"/>
              </a:ext>
            </a:extLst>
          </p:cNvPr>
          <p:cNvSpPr/>
          <p:nvPr/>
        </p:nvSpPr>
        <p:spPr>
          <a:xfrm>
            <a:off x="4203700" y="3448050"/>
            <a:ext cx="1828800" cy="211455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C05543-31A3-4A6F-8D57-45154A505795}"/>
              </a:ext>
            </a:extLst>
          </p:cNvPr>
          <p:cNvSpPr/>
          <p:nvPr/>
        </p:nvSpPr>
        <p:spPr>
          <a:xfrm>
            <a:off x="3619500" y="19050"/>
            <a:ext cx="2438400" cy="3429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7951A2-7A49-4FAD-9280-DDA9D7201390}"/>
              </a:ext>
            </a:extLst>
          </p:cNvPr>
          <p:cNvSpPr/>
          <p:nvPr/>
        </p:nvSpPr>
        <p:spPr>
          <a:xfrm>
            <a:off x="6057900" y="0"/>
            <a:ext cx="2438400" cy="344805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E515EC-990B-4782-B2B2-282AA3EFD3E8}"/>
              </a:ext>
            </a:extLst>
          </p:cNvPr>
          <p:cNvSpPr txBox="1"/>
          <p:nvPr/>
        </p:nvSpPr>
        <p:spPr>
          <a:xfrm>
            <a:off x="3200400" y="515412"/>
            <a:ext cx="563151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spc="300" dirty="0">
                <a:solidFill>
                  <a:srgbClr val="A64C79"/>
                </a:solidFill>
                <a:latin typeface="Kristen ITC" panose="03050502040202030202" pitchFamily="66" charset="0"/>
              </a:rPr>
              <a:t>Empathy  </a:t>
            </a:r>
          </a:p>
          <a:p>
            <a:pPr algn="ctr"/>
            <a:r>
              <a:rPr lang="en-US" sz="6600" spc="300" dirty="0">
                <a:solidFill>
                  <a:srgbClr val="A64C79"/>
                </a:solidFill>
                <a:latin typeface="Kristen ITC" panose="03050502040202030202" pitchFamily="66" charset="0"/>
              </a:rPr>
              <a:t>Map</a:t>
            </a:r>
          </a:p>
          <a:p>
            <a:pPr algn="ctr"/>
            <a:r>
              <a:rPr lang="en-US" sz="6600" spc="300" dirty="0">
                <a:solidFill>
                  <a:srgbClr val="A64C79"/>
                </a:solidFill>
                <a:latin typeface="Kristen ITC" panose="03050502040202030202" pitchFamily="66" charset="0"/>
              </a:rPr>
              <a:t>For </a:t>
            </a:r>
          </a:p>
          <a:p>
            <a:pPr algn="ctr"/>
            <a:r>
              <a:rPr lang="en-US" sz="6600" spc="300" dirty="0">
                <a:solidFill>
                  <a:srgbClr val="A64C79"/>
                </a:solidFill>
                <a:latin typeface="Kristen ITC" panose="03050502040202030202" pitchFamily="66" charset="0"/>
              </a:rPr>
              <a:t>Tutees and Tutors</a:t>
            </a:r>
          </a:p>
        </p:txBody>
      </p:sp>
    </p:spTree>
    <p:extLst>
      <p:ext uri="{BB962C8B-B14F-4D97-AF65-F5344CB8AC3E}">
        <p14:creationId xmlns:p14="http://schemas.microsoft.com/office/powerpoint/2010/main" val="2848080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45CA842-0951-4556-A01D-3CCD94B42837}"/>
              </a:ext>
            </a:extLst>
          </p:cNvPr>
          <p:cNvSpPr txBox="1"/>
          <p:nvPr/>
        </p:nvSpPr>
        <p:spPr>
          <a:xfrm>
            <a:off x="3601387" y="212312"/>
            <a:ext cx="498922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spc="300" dirty="0">
                <a:solidFill>
                  <a:srgbClr val="A64C79"/>
                </a:solidFill>
                <a:latin typeface="Kristen ITC" panose="03050502040202030202" pitchFamily="66" charset="0"/>
              </a:rPr>
              <a:t>Empathy  </a:t>
            </a:r>
          </a:p>
          <a:p>
            <a:pPr algn="ctr"/>
            <a:r>
              <a:rPr lang="en-US" sz="4800" spc="300" dirty="0">
                <a:solidFill>
                  <a:srgbClr val="A64C79"/>
                </a:solidFill>
                <a:latin typeface="Kristen ITC" panose="03050502040202030202" pitchFamily="66" charset="0"/>
              </a:rPr>
              <a:t>Map</a:t>
            </a:r>
          </a:p>
          <a:p>
            <a:pPr algn="ctr"/>
            <a:r>
              <a:rPr lang="en-US" sz="4800" spc="300" dirty="0">
                <a:solidFill>
                  <a:srgbClr val="A64C79"/>
                </a:solidFill>
                <a:latin typeface="Kristen ITC" panose="03050502040202030202" pitchFamily="66" charset="0"/>
              </a:rPr>
              <a:t>For </a:t>
            </a:r>
          </a:p>
          <a:p>
            <a:pPr algn="ctr"/>
            <a:r>
              <a:rPr lang="en-US" sz="4800" spc="300" dirty="0">
                <a:solidFill>
                  <a:srgbClr val="A64C79"/>
                </a:solidFill>
                <a:latin typeface="Kristen ITC" panose="03050502040202030202" pitchFamily="66" charset="0"/>
              </a:rPr>
              <a:t>Tutee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AEBAD6-E121-4839-9C2B-B8EBF2AC7914}"/>
              </a:ext>
            </a:extLst>
          </p:cNvPr>
          <p:cNvSpPr txBox="1"/>
          <p:nvPr/>
        </p:nvSpPr>
        <p:spPr>
          <a:xfrm>
            <a:off x="176716" y="798636"/>
            <a:ext cx="510761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I </a:t>
            </a:r>
            <a:r>
              <a:rPr lang="en-US" sz="2000" dirty="0">
                <a:latin typeface="Georgia" panose="02040502050405020303" pitchFamily="18" charset="0"/>
              </a:rPr>
              <a:t>don’t know where to start with this topic.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I want my child to </a:t>
            </a:r>
            <a:r>
              <a:rPr lang="en-US" sz="2000" dirty="0">
                <a:latin typeface="Georgia" panose="02040502050405020303" pitchFamily="18" charset="0"/>
              </a:rPr>
              <a:t>get the same educational opportunities.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I’m not great with technology, I hope its easy to use.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Georgia" panose="02040502050405020303" pitchFamily="18" charset="0"/>
              </a:rPr>
              <a:t>I need someone who can go slower and explain thing better.</a:t>
            </a:r>
            <a:endParaRPr lang="en-US" sz="20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26E43B-5B10-4933-B954-50CE4825A1E8}"/>
              </a:ext>
            </a:extLst>
          </p:cNvPr>
          <p:cNvSpPr txBox="1"/>
          <p:nvPr/>
        </p:nvSpPr>
        <p:spPr>
          <a:xfrm>
            <a:off x="6919575" y="874455"/>
            <a:ext cx="527242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Will it be affordable for me?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Georgia" panose="02040502050405020303" pitchFamily="18" charset="0"/>
              </a:rPr>
              <a:t>How can I ensure my child feels comfortable during session? And will he be understanding despite the my child condition?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Georgia" panose="02040502050405020303" pitchFamily="18" charset="0"/>
              </a:rPr>
              <a:t>Will I be able to catch up with the younger students?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Georgia" panose="02040502050405020303" pitchFamily="18" charset="0"/>
              </a:rPr>
              <a:t>I hope the tutor will be patient with me.  </a:t>
            </a:r>
            <a:endParaRPr lang="en-US" sz="20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90769D-306D-4C52-84F6-75FEA93E603D}"/>
              </a:ext>
            </a:extLst>
          </p:cNvPr>
          <p:cNvSpPr txBox="1"/>
          <p:nvPr/>
        </p:nvSpPr>
        <p:spPr>
          <a:xfrm>
            <a:off x="261741" y="4120479"/>
            <a:ext cx="510761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Looks for t</a:t>
            </a:r>
            <a:r>
              <a:rPr lang="en-US" sz="2000" dirty="0">
                <a:latin typeface="Georgia" panose="02040502050405020303" pitchFamily="18" charset="0"/>
              </a:rPr>
              <a:t>utor based on specific subjects.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Georgia" panose="02040502050405020303" pitchFamily="18" charset="0"/>
              </a:rPr>
              <a:t>C0mmunicates any special needs with tutors.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Books lesson during non-working hours.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Ask question repeatedly during sessions.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6D63D0-DC86-4495-BC81-28CF3C855EEB}"/>
              </a:ext>
            </a:extLst>
          </p:cNvPr>
          <p:cNvSpPr txBox="1"/>
          <p:nvPr/>
        </p:nvSpPr>
        <p:spPr>
          <a:xfrm>
            <a:off x="261741" y="182976"/>
            <a:ext cx="95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A3EFAC-BA56-4F57-9B45-F71E40E66C59}"/>
              </a:ext>
            </a:extLst>
          </p:cNvPr>
          <p:cNvSpPr txBox="1"/>
          <p:nvPr/>
        </p:nvSpPr>
        <p:spPr>
          <a:xfrm>
            <a:off x="10658377" y="126060"/>
            <a:ext cx="1607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5BF284-536F-4A75-9BA4-49C58F60E63C}"/>
              </a:ext>
            </a:extLst>
          </p:cNvPr>
          <p:cNvSpPr txBox="1"/>
          <p:nvPr/>
        </p:nvSpPr>
        <p:spPr>
          <a:xfrm>
            <a:off x="261741" y="3494020"/>
            <a:ext cx="95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F7C9DF-FAFD-43B7-8BF3-95DB45B0C1C7}"/>
              </a:ext>
            </a:extLst>
          </p:cNvPr>
          <p:cNvSpPr txBox="1"/>
          <p:nvPr/>
        </p:nvSpPr>
        <p:spPr>
          <a:xfrm>
            <a:off x="10896728" y="3538267"/>
            <a:ext cx="1130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1AF51B-F378-48FE-896E-4C6ABAAB662B}"/>
              </a:ext>
            </a:extLst>
          </p:cNvPr>
          <p:cNvSpPr txBox="1"/>
          <p:nvPr/>
        </p:nvSpPr>
        <p:spPr>
          <a:xfrm>
            <a:off x="6239027" y="4110443"/>
            <a:ext cx="510761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Stresses abou</a:t>
            </a:r>
            <a:r>
              <a:rPr lang="en-US" sz="2000" dirty="0">
                <a:latin typeface="Georgia" panose="02040502050405020303" pitchFamily="18" charset="0"/>
              </a:rPr>
              <a:t>t school works.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Worried about the quality of the tutoring experience.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Georgia" panose="02040502050405020303" pitchFamily="18" charset="0"/>
              </a:rPr>
              <a:t>A bit insecure about returning to study after a break.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Frustrated with </a:t>
            </a:r>
            <a:r>
              <a:rPr lang="en-US" sz="2000" dirty="0">
                <a:latin typeface="Georgia" panose="02040502050405020303" pitchFamily="18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heir pace </a:t>
            </a:r>
            <a:r>
              <a:rPr lang="en-US" sz="2000" dirty="0">
                <a:latin typeface="Georgia" panose="02040502050405020303" pitchFamily="18" charset="0"/>
              </a:rPr>
              <a:t>of learning.</a:t>
            </a:r>
            <a:endParaRPr lang="en-US" sz="20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112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45CA842-0951-4556-A01D-3CCD94B42837}"/>
              </a:ext>
            </a:extLst>
          </p:cNvPr>
          <p:cNvSpPr txBox="1"/>
          <p:nvPr/>
        </p:nvSpPr>
        <p:spPr>
          <a:xfrm>
            <a:off x="3601387" y="212312"/>
            <a:ext cx="498922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spc="300" dirty="0">
                <a:solidFill>
                  <a:srgbClr val="A64C79"/>
                </a:solidFill>
                <a:latin typeface="Kristen ITC" panose="03050502040202030202" pitchFamily="66" charset="0"/>
              </a:rPr>
              <a:t>Empathy  </a:t>
            </a:r>
          </a:p>
          <a:p>
            <a:pPr algn="ctr"/>
            <a:r>
              <a:rPr lang="en-US" sz="4800" spc="300" dirty="0">
                <a:solidFill>
                  <a:srgbClr val="A64C79"/>
                </a:solidFill>
                <a:latin typeface="Kristen ITC" panose="03050502040202030202" pitchFamily="66" charset="0"/>
              </a:rPr>
              <a:t>Map</a:t>
            </a:r>
          </a:p>
          <a:p>
            <a:pPr algn="ctr"/>
            <a:r>
              <a:rPr lang="en-US" sz="4800" spc="300" dirty="0">
                <a:solidFill>
                  <a:srgbClr val="A64C79"/>
                </a:solidFill>
                <a:latin typeface="Kristen ITC" panose="03050502040202030202" pitchFamily="66" charset="0"/>
              </a:rPr>
              <a:t>For </a:t>
            </a:r>
          </a:p>
          <a:p>
            <a:pPr algn="ctr"/>
            <a:r>
              <a:rPr lang="en-US" sz="4800" spc="300" dirty="0">
                <a:solidFill>
                  <a:srgbClr val="A64C79"/>
                </a:solidFill>
                <a:latin typeface="Kristen ITC" panose="03050502040202030202" pitchFamily="66" charset="0"/>
              </a:rPr>
              <a:t>Tutors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AEBAD6-E121-4839-9C2B-B8EBF2AC7914}"/>
              </a:ext>
            </a:extLst>
          </p:cNvPr>
          <p:cNvSpPr txBox="1"/>
          <p:nvPr/>
        </p:nvSpPr>
        <p:spPr>
          <a:xfrm>
            <a:off x="176716" y="798636"/>
            <a:ext cx="510761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I’ve taken this subject and I know how to explain it simply.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Georgia" panose="02040502050405020303" pitchFamily="18" charset="0"/>
              </a:rPr>
              <a:t>This will help me build a teaching experience.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Georgia" panose="02040502050405020303" pitchFamily="18" charset="0"/>
              </a:rPr>
              <a:t>I want to share real-world application too.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Georgia" panose="02040502050405020303" pitchFamily="18" charset="0"/>
              </a:rPr>
              <a:t>I tailor my method to each student’s style.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26E43B-5B10-4933-B954-50CE4825A1E8}"/>
              </a:ext>
            </a:extLst>
          </p:cNvPr>
          <p:cNvSpPr txBox="1"/>
          <p:nvPr/>
        </p:nvSpPr>
        <p:spPr>
          <a:xfrm>
            <a:off x="6919575" y="874455"/>
            <a:ext cx="527242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Georgia" panose="02040502050405020303" pitchFamily="18" charset="0"/>
              </a:rPr>
              <a:t>Will they take me seriously as a tutor?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Georgia" panose="02040502050405020303" pitchFamily="18" charset="0"/>
              </a:rPr>
              <a:t> Am I making a real impact in student learning?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Georgia" panose="02040502050405020303" pitchFamily="18" charset="0"/>
              </a:rPr>
              <a:t>How can I make the session more interactive?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Georgia" panose="02040502050405020303" pitchFamily="18" charset="0"/>
              </a:rPr>
              <a:t>How can I build trust quickly with new learners?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>
              <a:latin typeface="Georgia" panose="020405020504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90769D-306D-4C52-84F6-75FEA93E603D}"/>
              </a:ext>
            </a:extLst>
          </p:cNvPr>
          <p:cNvSpPr txBox="1"/>
          <p:nvPr/>
        </p:nvSpPr>
        <p:spPr>
          <a:xfrm>
            <a:off x="261741" y="4120479"/>
            <a:ext cx="510761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Georgia" panose="02040502050405020303" pitchFamily="18" charset="0"/>
              </a:rPr>
              <a:t>Shares notes and tips that work for me during my time.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Georgia" panose="02040502050405020303" pitchFamily="18" charset="0"/>
              </a:rPr>
              <a:t>Offers structure sessions.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Georgia" panose="02040502050405020303" pitchFamily="18" charset="0"/>
              </a:rPr>
              <a:t>Focuses on mastery over memorization.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Georgia" panose="02040502050405020303" pitchFamily="18" charset="0"/>
              </a:rPr>
              <a:t>Adjust session for each learner’s pace.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>
              <a:latin typeface="Georgia" panose="020405020504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>
              <a:latin typeface="Georgia" panose="020405020504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6D63D0-DC86-4495-BC81-28CF3C855EEB}"/>
              </a:ext>
            </a:extLst>
          </p:cNvPr>
          <p:cNvSpPr txBox="1"/>
          <p:nvPr/>
        </p:nvSpPr>
        <p:spPr>
          <a:xfrm>
            <a:off x="261741" y="182976"/>
            <a:ext cx="95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A3EFAC-BA56-4F57-9B45-F71E40E66C59}"/>
              </a:ext>
            </a:extLst>
          </p:cNvPr>
          <p:cNvSpPr txBox="1"/>
          <p:nvPr/>
        </p:nvSpPr>
        <p:spPr>
          <a:xfrm>
            <a:off x="10658377" y="126060"/>
            <a:ext cx="1607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5BF284-536F-4A75-9BA4-49C58F60E63C}"/>
              </a:ext>
            </a:extLst>
          </p:cNvPr>
          <p:cNvSpPr txBox="1"/>
          <p:nvPr/>
        </p:nvSpPr>
        <p:spPr>
          <a:xfrm>
            <a:off x="261741" y="3494020"/>
            <a:ext cx="95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F7C9DF-FAFD-43B7-8BF3-95DB45B0C1C7}"/>
              </a:ext>
            </a:extLst>
          </p:cNvPr>
          <p:cNvSpPr txBox="1"/>
          <p:nvPr/>
        </p:nvSpPr>
        <p:spPr>
          <a:xfrm>
            <a:off x="10896728" y="3538267"/>
            <a:ext cx="1130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1AF51B-F378-48FE-896E-4C6ABAAB662B}"/>
              </a:ext>
            </a:extLst>
          </p:cNvPr>
          <p:cNvSpPr txBox="1"/>
          <p:nvPr/>
        </p:nvSpPr>
        <p:spPr>
          <a:xfrm>
            <a:off x="6239027" y="4110443"/>
            <a:ext cx="510761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Empathetic towards struggling students.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Proud about improving their teaching skills.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Rewarded by student g</a:t>
            </a:r>
            <a:r>
              <a:rPr lang="en-US" sz="2000" dirty="0">
                <a:latin typeface="Georgia" panose="02040502050405020303" pitchFamily="18" charset="0"/>
              </a:rPr>
              <a:t>rowth.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Georgia" panose="02040502050405020303" pitchFamily="18" charset="0"/>
              </a:rPr>
              <a:t>Driven by both result and relationships.</a:t>
            </a:r>
            <a:endParaRPr lang="en-US" sz="20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955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B5F98A9-A097-4CF4-B22D-849D0C0A6D96}"/>
              </a:ext>
            </a:extLst>
          </p:cNvPr>
          <p:cNvGrpSpPr/>
          <p:nvPr/>
        </p:nvGrpSpPr>
        <p:grpSpPr>
          <a:xfrm>
            <a:off x="165171" y="194191"/>
            <a:ext cx="12187696" cy="6138231"/>
            <a:chOff x="165171" y="194191"/>
            <a:chExt cx="12187696" cy="613823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B6FEBCA-ACE6-4481-A827-D6A568F95F36}"/>
                </a:ext>
              </a:extLst>
            </p:cNvPr>
            <p:cNvSpPr txBox="1"/>
            <p:nvPr/>
          </p:nvSpPr>
          <p:spPr>
            <a:xfrm>
              <a:off x="534822" y="194191"/>
              <a:ext cx="29513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Bodoni MT Black" panose="02070A03080606020203" pitchFamily="18" charset="0"/>
                </a:rPr>
                <a:t>EMPATHY MAP </a:t>
              </a:r>
            </a:p>
          </p:txBody>
        </p:sp>
        <p:sp>
          <p:nvSpPr>
            <p:cNvPr id="3" name="Half Frame 2">
              <a:extLst>
                <a:ext uri="{FF2B5EF4-FFF2-40B4-BE49-F238E27FC236}">
                  <a16:creationId xmlns:a16="http://schemas.microsoft.com/office/drawing/2014/main" id="{2B7CAD12-061A-454E-9F22-E8A2EC9476A3}"/>
                </a:ext>
              </a:extLst>
            </p:cNvPr>
            <p:cNvSpPr/>
            <p:nvPr/>
          </p:nvSpPr>
          <p:spPr>
            <a:xfrm>
              <a:off x="165171" y="954806"/>
              <a:ext cx="2951328" cy="1626429"/>
            </a:xfrm>
            <a:prstGeom prst="halfFrame">
              <a:avLst>
                <a:gd name="adj1" fmla="val 4212"/>
                <a:gd name="adj2" fmla="val 5311"/>
              </a:avLst>
            </a:prstGeom>
            <a:solidFill>
              <a:srgbClr val="A529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1399010C-8323-41C8-A3F2-B9FA4540186E}"/>
                </a:ext>
              </a:extLst>
            </p:cNvPr>
            <p:cNvSpPr/>
            <p:nvPr/>
          </p:nvSpPr>
          <p:spPr>
            <a:xfrm>
              <a:off x="165171" y="3745632"/>
              <a:ext cx="2951328" cy="1626429"/>
            </a:xfrm>
            <a:prstGeom prst="halfFrame">
              <a:avLst>
                <a:gd name="adj1" fmla="val 4212"/>
                <a:gd name="adj2" fmla="val 5311"/>
              </a:avLst>
            </a:prstGeom>
            <a:solidFill>
              <a:srgbClr val="009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C52B6068-2ADE-48FB-9253-ACF0476B9B14}"/>
                </a:ext>
              </a:extLst>
            </p:cNvPr>
            <p:cNvSpPr/>
            <p:nvPr/>
          </p:nvSpPr>
          <p:spPr>
            <a:xfrm>
              <a:off x="6172271" y="954806"/>
              <a:ext cx="2951328" cy="1626429"/>
            </a:xfrm>
            <a:prstGeom prst="halfFrame">
              <a:avLst>
                <a:gd name="adj1" fmla="val 4212"/>
                <a:gd name="adj2" fmla="val 5311"/>
              </a:avLst>
            </a:prstGeom>
            <a:solidFill>
              <a:srgbClr val="F319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33DEC206-B5E1-44DA-8DAD-C52D59EFA240}"/>
                </a:ext>
              </a:extLst>
            </p:cNvPr>
            <p:cNvSpPr/>
            <p:nvPr/>
          </p:nvSpPr>
          <p:spPr>
            <a:xfrm>
              <a:off x="6172271" y="3745632"/>
              <a:ext cx="2951328" cy="1626429"/>
            </a:xfrm>
            <a:prstGeom prst="halfFrame">
              <a:avLst>
                <a:gd name="adj1" fmla="val 4212"/>
                <a:gd name="adj2" fmla="val 5311"/>
              </a:avLst>
            </a:prstGeom>
            <a:solidFill>
              <a:srgbClr val="F88E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F3D15E5-4BB7-42F4-9239-FE9CFB41A108}"/>
                </a:ext>
              </a:extLst>
            </p:cNvPr>
            <p:cNvSpPr txBox="1"/>
            <p:nvPr/>
          </p:nvSpPr>
          <p:spPr>
            <a:xfrm>
              <a:off x="375217" y="1159353"/>
              <a:ext cx="930921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>
                  <a:solidFill>
                    <a:srgbClr val="A529F7"/>
                  </a:solidFill>
                  <a:latin typeface="Bodoni MT Black" panose="02070A03080606020203" pitchFamily="18" charset="0"/>
                </a:rPr>
                <a:t>SAY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B69027-E5AD-4A58-BDDA-7F119B5B8AD4}"/>
                </a:ext>
              </a:extLst>
            </p:cNvPr>
            <p:cNvSpPr txBox="1"/>
            <p:nvPr/>
          </p:nvSpPr>
          <p:spPr>
            <a:xfrm>
              <a:off x="393077" y="4032985"/>
              <a:ext cx="73826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>
                  <a:solidFill>
                    <a:srgbClr val="0097E7"/>
                  </a:solidFill>
                  <a:latin typeface="Bodoni MT Black" panose="02070A03080606020203" pitchFamily="18" charset="0"/>
                </a:rPr>
                <a:t>DO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8A9473A-2ED0-46F2-8E1C-2318325DC770}"/>
                </a:ext>
              </a:extLst>
            </p:cNvPr>
            <p:cNvSpPr txBox="1"/>
            <p:nvPr/>
          </p:nvSpPr>
          <p:spPr>
            <a:xfrm>
              <a:off x="6444988" y="1159353"/>
              <a:ext cx="143576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>
                  <a:solidFill>
                    <a:srgbClr val="F3197C"/>
                  </a:solidFill>
                  <a:latin typeface="Bodoni MT Black" panose="02070A03080606020203" pitchFamily="18" charset="0"/>
                </a:rPr>
                <a:t>THINK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CD516F4-86CE-4A65-A1AC-7B40784931A0}"/>
                </a:ext>
              </a:extLst>
            </p:cNvPr>
            <p:cNvSpPr txBox="1"/>
            <p:nvPr/>
          </p:nvSpPr>
          <p:spPr>
            <a:xfrm>
              <a:off x="6566106" y="3982617"/>
              <a:ext cx="1193532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>
                  <a:solidFill>
                    <a:srgbClr val="F88E50"/>
                  </a:solidFill>
                  <a:latin typeface="Bodoni MT Black" panose="02070A03080606020203" pitchFamily="18" charset="0"/>
                </a:rPr>
                <a:t>FEEL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C1DC8F1-AED6-4172-9CD0-75CA013563DF}"/>
                </a:ext>
              </a:extLst>
            </p:cNvPr>
            <p:cNvSpPr txBox="1"/>
            <p:nvPr/>
          </p:nvSpPr>
          <p:spPr>
            <a:xfrm>
              <a:off x="468502" y="1693635"/>
              <a:ext cx="6097604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sz="1800" dirty="0">
                  <a:solidFill>
                    <a:schemeClr val="bg1"/>
                  </a:solidFill>
                  <a:latin typeface="Georgia" panose="02040502050405020303" pitchFamily="18" charset="0"/>
                </a:rPr>
                <a:t>I need help understanding difficult subjects.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sz="1800" dirty="0">
                  <a:solidFill>
                    <a:schemeClr val="bg1"/>
                  </a:solidFill>
                  <a:latin typeface="Georgia" panose="02040502050405020303" pitchFamily="18" charset="0"/>
                </a:rPr>
                <a:t>I wish I could get personalized support.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sz="1800" dirty="0">
                  <a:solidFill>
                    <a:schemeClr val="bg1"/>
                  </a:solidFill>
                  <a:latin typeface="Georgia" panose="02040502050405020303" pitchFamily="18" charset="0"/>
                </a:rPr>
                <a:t>My schedule is already packed with school and extracurriculars.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sz="1800" dirty="0">
                  <a:solidFill>
                    <a:schemeClr val="bg1"/>
                  </a:solidFill>
                  <a:latin typeface="Georgia" panose="02040502050405020303" pitchFamily="18" charset="0"/>
                </a:rPr>
                <a:t>It’s hard to find affordable tutoring options.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8842FB1-E3FF-4497-A1E0-8D5B39F58A5D}"/>
                </a:ext>
              </a:extLst>
            </p:cNvPr>
            <p:cNvSpPr txBox="1"/>
            <p:nvPr/>
          </p:nvSpPr>
          <p:spPr>
            <a:xfrm>
              <a:off x="6315047" y="1555136"/>
              <a:ext cx="6037820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dirty="0">
                  <a:solidFill>
                    <a:schemeClr val="bg1"/>
                  </a:solidFill>
                  <a:latin typeface="Georgia" panose="02040502050405020303" pitchFamily="18" charset="0"/>
                </a:rPr>
                <a:t>"I want an easy-to-use platform where I can find help quickly."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dirty="0">
                  <a:solidFill>
                    <a:schemeClr val="bg1"/>
                  </a:solidFill>
                  <a:latin typeface="Georgia" panose="02040502050405020303" pitchFamily="18" charset="0"/>
                </a:rPr>
                <a:t>"Will the tutor understand my learning style and pace?"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dirty="0">
                  <a:solidFill>
                    <a:schemeClr val="bg1"/>
                  </a:solidFill>
                  <a:latin typeface="Georgia" panose="02040502050405020303" pitchFamily="18" charset="0"/>
                </a:rPr>
                <a:t>"Is this platform reliable and secure for my personal information?"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dirty="0">
                  <a:solidFill>
                    <a:schemeClr val="bg1"/>
                  </a:solidFill>
                  <a:latin typeface="Georgia" panose="02040502050405020303" pitchFamily="18" charset="0"/>
                </a:rPr>
                <a:t>"I hope I can access tutoring sessions on-demand."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48709B7-2B19-4F3D-9BA1-5B988C3F1F41}"/>
                </a:ext>
              </a:extLst>
            </p:cNvPr>
            <p:cNvSpPr txBox="1"/>
            <p:nvPr/>
          </p:nvSpPr>
          <p:spPr>
            <a:xfrm>
              <a:off x="378425" y="4578096"/>
              <a:ext cx="5936622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q"/>
              </a:pPr>
              <a:r>
                <a:rPr lang="en-US" sz="1800" dirty="0">
                  <a:solidFill>
                    <a:schemeClr val="bg1"/>
                  </a:solidFill>
                  <a:latin typeface="Georgia" panose="02040502050405020303" pitchFamily="18" charset="0"/>
                </a:rPr>
                <a:t>Searches for online resources (e.g., YouTube, forums).</a:t>
              </a:r>
            </a:p>
            <a:p>
              <a:pPr marL="342900" indent="-342900">
                <a:buFont typeface="Wingdings" panose="05000000000000000000" pitchFamily="2" charset="2"/>
                <a:buChar char="q"/>
              </a:pPr>
              <a:r>
                <a:rPr lang="en-US" sz="1800" dirty="0">
                  <a:solidFill>
                    <a:schemeClr val="bg1"/>
                  </a:solidFill>
                  <a:latin typeface="Georgia" panose="02040502050405020303" pitchFamily="18" charset="0"/>
                </a:rPr>
                <a:t>Asks peers for help with complex topics.</a:t>
              </a:r>
            </a:p>
            <a:p>
              <a:pPr marL="342900" indent="-342900">
                <a:buFont typeface="Wingdings" panose="05000000000000000000" pitchFamily="2" charset="2"/>
                <a:buChar char="q"/>
              </a:pPr>
              <a:r>
                <a:rPr lang="en-US" sz="1800" dirty="0">
                  <a:solidFill>
                    <a:schemeClr val="bg1"/>
                  </a:solidFill>
                  <a:latin typeface="Georgia" panose="02040502050405020303" pitchFamily="18" charset="0"/>
                </a:rPr>
                <a:t>Schedules study sessions around their busy timetable.</a:t>
              </a:r>
            </a:p>
            <a:p>
              <a:pPr marL="342900" indent="-342900">
                <a:buFont typeface="Wingdings" panose="05000000000000000000" pitchFamily="2" charset="2"/>
                <a:buChar char="q"/>
              </a:pPr>
              <a:r>
                <a:rPr lang="en-US" sz="1800" dirty="0">
                  <a:solidFill>
                    <a:schemeClr val="bg1"/>
                  </a:solidFill>
                  <a:latin typeface="Georgia" panose="02040502050405020303" pitchFamily="18" charset="0"/>
                </a:rPr>
                <a:t>Tries to balance academic needs with personal life.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522A222-040C-4E1A-A34A-995B7E5AEFEA}"/>
                </a:ext>
              </a:extLst>
            </p:cNvPr>
            <p:cNvSpPr txBox="1"/>
            <p:nvPr/>
          </p:nvSpPr>
          <p:spPr>
            <a:xfrm>
              <a:off x="6444988" y="4607902"/>
              <a:ext cx="5747012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q"/>
              </a:pPr>
              <a:r>
                <a:rPr lang="en-US" sz="1800" dirty="0">
                  <a:solidFill>
                    <a:schemeClr val="bg1"/>
                  </a:solidFill>
                  <a:latin typeface="Georgia" panose="02040502050405020303" pitchFamily="18" charset="0"/>
                </a:rPr>
                <a:t>Frustrated when unable to grasp concepts.</a:t>
              </a:r>
            </a:p>
            <a:p>
              <a:pPr marL="342900" indent="-342900">
                <a:buFont typeface="Wingdings" panose="05000000000000000000" pitchFamily="2" charset="2"/>
                <a:buChar char="q"/>
              </a:pPr>
              <a:r>
                <a:rPr lang="en-US" sz="1800" dirty="0">
                  <a:solidFill>
                    <a:schemeClr val="bg1"/>
                  </a:solidFill>
                  <a:latin typeface="Georgia" panose="02040502050405020303" pitchFamily="18" charset="0"/>
                </a:rPr>
                <a:t>Overwhelmed by school workload.</a:t>
              </a:r>
            </a:p>
            <a:p>
              <a:pPr marL="342900" indent="-342900">
                <a:buFont typeface="Wingdings" panose="05000000000000000000" pitchFamily="2" charset="2"/>
                <a:buChar char="q"/>
              </a:pPr>
              <a:r>
                <a:rPr lang="en-US" sz="1800" dirty="0">
                  <a:solidFill>
                    <a:schemeClr val="bg1"/>
                  </a:solidFill>
                  <a:latin typeface="Georgia" panose="02040502050405020303" pitchFamily="18" charset="0"/>
                </a:rPr>
                <a:t>Relieved when they receive effective, timely support.</a:t>
              </a:r>
            </a:p>
            <a:p>
              <a:pPr marL="342900" indent="-342900">
                <a:buFont typeface="Wingdings" panose="05000000000000000000" pitchFamily="2" charset="2"/>
                <a:buChar char="q"/>
              </a:pPr>
              <a:r>
                <a:rPr lang="en-US" sz="1800" dirty="0">
                  <a:solidFill>
                    <a:schemeClr val="bg1"/>
                  </a:solidFill>
                  <a:latin typeface="Georgia" panose="02040502050405020303" pitchFamily="18" charset="0"/>
                </a:rPr>
                <a:t>Anxious about exams and academic performance.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2212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460</Words>
  <Application>Microsoft Office PowerPoint</Application>
  <PresentationFormat>Widescreen</PresentationFormat>
  <Paragraphs>74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Arial</vt:lpstr>
      <vt:lpstr>Bodoni MT Black</vt:lpstr>
      <vt:lpstr>Calibri</vt:lpstr>
      <vt:lpstr>Calibri Light</vt:lpstr>
      <vt:lpstr>Georgia</vt:lpstr>
      <vt:lpstr>Kristen ITC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"RADIAMODA</dc:creator>
  <cp:lastModifiedBy>"RADIAMODA</cp:lastModifiedBy>
  <cp:revision>22</cp:revision>
  <dcterms:created xsi:type="dcterms:W3CDTF">2025-03-17T12:19:27Z</dcterms:created>
  <dcterms:modified xsi:type="dcterms:W3CDTF">2025-04-13T07:03:22Z</dcterms:modified>
</cp:coreProperties>
</file>